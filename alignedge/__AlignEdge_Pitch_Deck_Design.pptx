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540"/>
    <a:srgbClr val="D4A017"/>
    <a:srgbClr val="F5F7FA"/>
    <a:srgbClr val="6A7480"/>
    <a:srgbClr val="2E9B58"/>
    <a:srgbClr val="D6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30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90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AlignEdge — runtime maintenance layer for edge AI. The right-sized AI model, on the right chip, at the right time. The Haiku-not-Opus moment for industrial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models deployed on factory hardware silently degrade — too slow for the SLA, sensor drift, chip-model mismatch. Nobody notices until a machine fails. $2.3M per hour in automotive downtime. 3 to 6 months average detection delay. Missed alarms are invisible to cloud-side monitoring because the cloud never sees SLA-violating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F051-A6BB-7EE4-4CF2-C3249A67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098F6-F720-7A93-5127-2F8937F5C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1B5C7-12C0-E749-3308-B206201EF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send: model in any format, data sample, hardware spec with SLA budget. We test: real-hardware profiling on Jetson Nano, Raspberry Pi 4, Jetson Orin NX; drift injection across 5 failure modes; coverage analysis; multi-criteria comparison against 8 benchmarked foundation models. You know: 15-page report — keep, optimize, or swap — with AI Act-aligned audit trail.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A6720-40B3-8C65-227A-3CFE4C270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54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CBDC-2EB5-82A2-20F0-F6E69AF9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C966D-48FC-4D37-0FB4-499E8B4EA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63B34-F3F3-5875-D424-086DBFB03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times coverage equals events actually caught. Same task, same hardware, same SLA — 10x gap in SLA coverage between the right model and the wrong one: 85% vs 9.3%. Warning time on this bearing: 290s / 240s / 80s. 8 months of hardware-real benchmarks, PHM 2012 + IMS Center.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8E35C-1D89-22C8-6BB7-A88D95291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88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 AI Act high-risk enforcement August 2, 2026 — penalties up to 3% of global turnover or €15M, Article 99. HuggingFace grew to 2.4M+ models — the second million took only 335 days; manual selection is combinatorially impossible. OctoAI (formerly OctoML), the only cross-vendor optimizer, was acquired by NVIDIA in September 2024 — $900M peak valuation, sold at $165M, cross-vendor endpoints sunset. The decision-system side is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products in sequence. LAND: Audit — one-shot on-hardware test, 15-page report in 4 weeks, broad entry across automotive, robotics, energy, defense edge. EXPAND: Runtime — continuous drift detection, automatic re-selection, audit trail; enterprise subscription, automotive tier-1 focus. DEEPEN: Optimization — fleet-wide cross-vendor orchestration; the platform space OctoML left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audit measuring SLA coverage on real edge hardware with customer data. Cross-vendor by design — no incumbent has structural incentive; the OctoML precedent proves it. Every audit will feed a proprietary customer × model × hardware × drift × outcome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Chaoyang HQ, Wangjing automotive AI cluster. 75% of the world's EVs are produced in China — the largest edge AI deployment testbed on Earth.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founder, three institutions, validated technology. MSc Politecnico di Torino × UIC Barcelona, Visiting Researcher at Beihang. Thesis: Dynamic Model-Context Alignment in Industry 4.0. Drift classifier 92% held-out accuracy, 0% false alarms. 8 foundation models benchmarked on real GPU at $0.30 canonical cost. PHM 2012 + IMS Center validation, 10× coverage gap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AI-on-edge becomes a maintained asset, not a one-shot deployment. By 2030: millions of models continuously maintained, hundreds of billions in industrial downtime prevented. The Haiku-not-Opus moment for industrial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75" y="1621168"/>
            <a:ext cx="8756650" cy="22562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94957" y="3953639"/>
            <a:ext cx="890085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MAINTENANCE LAYER FOR EDGE AI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8274049" y="4652139"/>
            <a:ext cx="1333500" cy="762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797877" y="5685654"/>
            <a:ext cx="16285845" cy="12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400" b="1" kern="0" spc="-135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right-sized AI model, on the right chip, at the right time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186252" y="8170105"/>
            <a:ext cx="10318264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Haiku-not-Opus moment for industrial AI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582793" y="8989486"/>
            <a:ext cx="13122414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Omede</a:t>
            </a:r>
            <a:r>
              <a:rPr lang="en-US" sz="225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Politecnico di Torino × UIC Barcelona · Visiting Researcher, Beihang University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908050" y="1336519"/>
            <a:ext cx="8107402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0" b="1" kern="0" spc="-90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$2.3M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3125939" y="3378617"/>
            <a:ext cx="15022361" cy="126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4800" b="1" kern="0" spc="-42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				  </a:t>
            </a:r>
            <a:r>
              <a:rPr lang="it-IT" sz="4800" b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hour </a:t>
            </a:r>
            <a:r>
              <a:rPr lang="it-IT" sz="4800" b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</a:t>
            </a:r>
            <a:r>
              <a:rPr lang="it-IT" sz="4800" b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cost of automotive </a:t>
            </a:r>
            <a:r>
              <a:rPr lang="it-IT" sz="4800" b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downtime</a:t>
            </a:r>
            <a:r>
              <a:rPr lang="it-IT" sz="4800" b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4800" b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it-IT" sz="4800" b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misses the </a:t>
            </a:r>
            <a:r>
              <a:rPr lang="it-IT" sz="4800" b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alarm</a:t>
            </a:r>
            <a:r>
              <a:rPr lang="it-IT" sz="4800" b="1" dirty="0">
                <a:solidFill>
                  <a:srgbClr val="0A2540"/>
                </a:solidFill>
              </a:rPr>
              <a:t>.</a:t>
            </a:r>
            <a:endParaRPr lang="en-US" sz="4800" b="1" dirty="0">
              <a:solidFill>
                <a:srgbClr val="0A254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238250" y="6175474"/>
            <a:ext cx="15811500" cy="190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238250" y="6537424"/>
            <a:ext cx="53784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238250" y="7242274"/>
            <a:ext cx="503618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delay before silent degradation is detected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127750" y="6537424"/>
            <a:ext cx="53784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6127750" y="7242274"/>
            <a:ext cx="503618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cloud never sees SLA-violating requests, so missed alarms never reach monitoring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160251" y="6537424"/>
            <a:ext cx="53784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Unmeasured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12160251" y="7242274"/>
            <a:ext cx="503618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checks the model actually runs in time on the real chip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62050" y="9429750"/>
            <a:ext cx="108630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Aberdeen Research · Siemens True Cost of Downtime 2024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683930" y="9220200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1CABC-603B-972F-93A4-759F67E9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>
            <a:extLst>
              <a:ext uri="{FF2B5EF4-FFF2-40B4-BE49-F238E27FC236}">
                <a16:creationId xmlns:a16="http://schemas.microsoft.com/office/drawing/2014/main" id="{07B70919-FDF8-FE82-8476-36956776328C}"/>
              </a:ext>
            </a:extLst>
          </p:cNvPr>
          <p:cNvSpPr/>
          <p:nvPr/>
        </p:nvSpPr>
        <p:spPr>
          <a:xfrm>
            <a:off x="759381" y="641350"/>
            <a:ext cx="1952198" cy="406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2250" dirty="0"/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3D3DBCD6-705A-31F9-318D-0C159BEFC067}"/>
              </a:ext>
            </a:extLst>
          </p:cNvPr>
          <p:cNvSpPr/>
          <p:nvPr/>
        </p:nvSpPr>
        <p:spPr>
          <a:xfrm>
            <a:off x="2747648" y="533499"/>
            <a:ext cx="12949645" cy="530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525" b="1" kern="0" spc="-7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your models on real edge hardware — then keep them working</a:t>
            </a:r>
            <a:endParaRPr lang="en-US" sz="3525" dirty="0"/>
          </a:p>
        </p:txBody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AF9F0451-0E7C-B87A-84FF-9A5271B7B7F9}"/>
              </a:ext>
            </a:extLst>
          </p:cNvPr>
          <p:cNvSpPr/>
          <p:nvPr/>
        </p:nvSpPr>
        <p:spPr>
          <a:xfrm>
            <a:off x="3427244" y="1472902"/>
            <a:ext cx="11593314" cy="5715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blurRad="381000" dist="133350" dir="5400000" algn="bl" rotWithShape="0">
              <a:srgbClr val="0A2540">
                <a:alpha val="1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875F01AF-EEEC-CB8B-27BF-032E0D3C5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244" y="1472902"/>
            <a:ext cx="11593314" cy="5715000"/>
          </a:xfrm>
          <a:prstGeom prst="rect">
            <a:avLst/>
          </a:prstGeom>
        </p:spPr>
      </p:pic>
      <p:sp>
        <p:nvSpPr>
          <p:cNvPr id="70" name="Shape 4">
            <a:extLst>
              <a:ext uri="{FF2B5EF4-FFF2-40B4-BE49-F238E27FC236}">
                <a16:creationId xmlns:a16="http://schemas.microsoft.com/office/drawing/2014/main" id="{53135A00-99DF-F5AB-F225-946D8024314D}"/>
              </a:ext>
            </a:extLst>
          </p:cNvPr>
          <p:cNvSpPr/>
          <p:nvPr/>
        </p:nvSpPr>
        <p:spPr>
          <a:xfrm>
            <a:off x="1238250" y="7596783"/>
            <a:ext cx="4756646" cy="1531938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5">
            <a:extLst>
              <a:ext uri="{FF2B5EF4-FFF2-40B4-BE49-F238E27FC236}">
                <a16:creationId xmlns:a16="http://schemas.microsoft.com/office/drawing/2014/main" id="{902F757F-5A35-467B-D7B3-FFF9A295A19D}"/>
              </a:ext>
            </a:extLst>
          </p:cNvPr>
          <p:cNvSpPr/>
          <p:nvPr/>
        </p:nvSpPr>
        <p:spPr>
          <a:xfrm>
            <a:off x="1524000" y="7869833"/>
            <a:ext cx="37345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4" name="Text 6">
            <a:extLst>
              <a:ext uri="{FF2B5EF4-FFF2-40B4-BE49-F238E27FC236}">
                <a16:creationId xmlns:a16="http://schemas.microsoft.com/office/drawing/2014/main" id="{D5A68C68-3A42-15DE-E7D7-7ED72C30ACB0}"/>
              </a:ext>
            </a:extLst>
          </p:cNvPr>
          <p:cNvSpPr/>
          <p:nvPr/>
        </p:nvSpPr>
        <p:spPr>
          <a:xfrm>
            <a:off x="1954609" y="7825383"/>
            <a:ext cx="1472635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send</a:t>
            </a:r>
            <a:endParaRPr lang="en-US" sz="2550" dirty="0"/>
          </a:p>
        </p:txBody>
      </p:sp>
      <p:sp>
        <p:nvSpPr>
          <p:cNvPr id="76" name="Text 7">
            <a:extLst>
              <a:ext uri="{FF2B5EF4-FFF2-40B4-BE49-F238E27FC236}">
                <a16:creationId xmlns:a16="http://schemas.microsoft.com/office/drawing/2014/main" id="{93CFE97E-9A0A-A28E-9375-E78684C73FB5}"/>
              </a:ext>
            </a:extLst>
          </p:cNvPr>
          <p:cNvSpPr/>
          <p:nvPr/>
        </p:nvSpPr>
        <p:spPr>
          <a:xfrm>
            <a:off x="1524000" y="8257183"/>
            <a:ext cx="4310701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model, a data sample, hardware spec, SLA budget.</a:t>
            </a:r>
            <a:endParaRPr lang="en-US" sz="1875" dirty="0"/>
          </a:p>
        </p:txBody>
      </p:sp>
      <p:sp>
        <p:nvSpPr>
          <p:cNvPr id="78" name="Shape 8">
            <a:extLst>
              <a:ext uri="{FF2B5EF4-FFF2-40B4-BE49-F238E27FC236}">
                <a16:creationId xmlns:a16="http://schemas.microsoft.com/office/drawing/2014/main" id="{4B4883AE-94E0-90B4-8D07-B8EBF3F9CF52}"/>
              </a:ext>
            </a:extLst>
          </p:cNvPr>
          <p:cNvSpPr/>
          <p:nvPr/>
        </p:nvSpPr>
        <p:spPr>
          <a:xfrm>
            <a:off x="6261596" y="7596783"/>
            <a:ext cx="5764808" cy="1531938"/>
          </a:xfrm>
          <a:prstGeom prst="roundRect">
            <a:avLst>
              <a:gd name="adj" fmla="val 2487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0" name="Text 9">
            <a:extLst>
              <a:ext uri="{FF2B5EF4-FFF2-40B4-BE49-F238E27FC236}">
                <a16:creationId xmlns:a16="http://schemas.microsoft.com/office/drawing/2014/main" id="{4C428498-C056-CA86-328A-5E817C3CCAEA}"/>
              </a:ext>
            </a:extLst>
          </p:cNvPr>
          <p:cNvSpPr/>
          <p:nvPr/>
        </p:nvSpPr>
        <p:spPr>
          <a:xfrm>
            <a:off x="6528296" y="7850783"/>
            <a:ext cx="37345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82" name="Text 10">
            <a:extLst>
              <a:ext uri="{FF2B5EF4-FFF2-40B4-BE49-F238E27FC236}">
                <a16:creationId xmlns:a16="http://schemas.microsoft.com/office/drawing/2014/main" id="{4B818618-A6F9-61FB-D12C-72AE54507F8B}"/>
              </a:ext>
            </a:extLst>
          </p:cNvPr>
          <p:cNvSpPr/>
          <p:nvPr/>
        </p:nvSpPr>
        <p:spPr>
          <a:xfrm>
            <a:off x="6958905" y="7806333"/>
            <a:ext cx="116810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</a:t>
            </a:r>
            <a:endParaRPr lang="en-US" sz="2550" dirty="0"/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B5E0A996-EF6A-89CF-8D02-32D57B50C187}"/>
              </a:ext>
            </a:extLst>
          </p:cNvPr>
          <p:cNvSpPr/>
          <p:nvPr/>
        </p:nvSpPr>
        <p:spPr>
          <a:xfrm>
            <a:off x="6528296" y="8238133"/>
            <a:ext cx="538835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Real-hardware profiling, drift injection, coverage against your SLA and TOPSIS vs 8 foundation models.</a:t>
            </a:r>
            <a:endParaRPr lang="en-US" sz="1875" dirty="0"/>
          </a:p>
        </p:txBody>
      </p:sp>
      <p:sp>
        <p:nvSpPr>
          <p:cNvPr id="86" name="Shape 12">
            <a:extLst>
              <a:ext uri="{FF2B5EF4-FFF2-40B4-BE49-F238E27FC236}">
                <a16:creationId xmlns:a16="http://schemas.microsoft.com/office/drawing/2014/main" id="{BAEE3C36-E302-248D-DC3E-38B733B67377}"/>
              </a:ext>
            </a:extLst>
          </p:cNvPr>
          <p:cNvSpPr/>
          <p:nvPr/>
        </p:nvSpPr>
        <p:spPr>
          <a:xfrm>
            <a:off x="12293104" y="7596783"/>
            <a:ext cx="4756646" cy="1531938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8" name="Text 13">
            <a:extLst>
              <a:ext uri="{FF2B5EF4-FFF2-40B4-BE49-F238E27FC236}">
                <a16:creationId xmlns:a16="http://schemas.microsoft.com/office/drawing/2014/main" id="{C3B2306A-0167-92CA-DEF0-482EEE25C4E8}"/>
              </a:ext>
            </a:extLst>
          </p:cNvPr>
          <p:cNvSpPr/>
          <p:nvPr/>
        </p:nvSpPr>
        <p:spPr>
          <a:xfrm>
            <a:off x="12578854" y="7869833"/>
            <a:ext cx="37345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90" name="Text 14">
            <a:extLst>
              <a:ext uri="{FF2B5EF4-FFF2-40B4-BE49-F238E27FC236}">
                <a16:creationId xmlns:a16="http://schemas.microsoft.com/office/drawing/2014/main" id="{53E2A7C7-07C6-45EB-868F-3C360B9CE9FF}"/>
              </a:ext>
            </a:extLst>
          </p:cNvPr>
          <p:cNvSpPr/>
          <p:nvPr/>
        </p:nvSpPr>
        <p:spPr>
          <a:xfrm>
            <a:off x="13009464" y="7825383"/>
            <a:ext cx="1531789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</a:t>
            </a:r>
            <a:endParaRPr lang="en-US" sz="2550" dirty="0"/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2262970F-9F53-2E20-816E-4F504C570119}"/>
              </a:ext>
            </a:extLst>
          </p:cNvPr>
          <p:cNvSpPr/>
          <p:nvPr/>
        </p:nvSpPr>
        <p:spPr>
          <a:xfrm>
            <a:off x="12578854" y="8257183"/>
            <a:ext cx="4310701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report telling you which models fit, which don’t and how to manage them.</a:t>
            </a:r>
            <a:endParaRPr lang="en-US" sz="1875" dirty="0"/>
          </a:p>
        </p:txBody>
      </p:sp>
      <p:sp>
        <p:nvSpPr>
          <p:cNvPr id="94" name="Shape 16">
            <a:extLst>
              <a:ext uri="{FF2B5EF4-FFF2-40B4-BE49-F238E27FC236}">
                <a16:creationId xmlns:a16="http://schemas.microsoft.com/office/drawing/2014/main" id="{BF34D93F-0CC1-3C58-0A8A-6A81D46CA8AB}"/>
              </a:ext>
            </a:extLst>
          </p:cNvPr>
          <p:cNvSpPr/>
          <p:nvPr/>
        </p:nvSpPr>
        <p:spPr>
          <a:xfrm>
            <a:off x="1238250" y="9334500"/>
            <a:ext cx="15811500" cy="190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6" name="Text 17">
            <a:extLst>
              <a:ext uri="{FF2B5EF4-FFF2-40B4-BE49-F238E27FC236}">
                <a16:creationId xmlns:a16="http://schemas.microsoft.com/office/drawing/2014/main" id="{F7BD7C4B-174B-F37D-D4C5-F5B82802C880}"/>
              </a:ext>
            </a:extLst>
          </p:cNvPr>
          <p:cNvSpPr/>
          <p:nvPr/>
        </p:nvSpPr>
        <p:spPr>
          <a:xfrm>
            <a:off x="6134338" y="9486900"/>
            <a:ext cx="60193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WEEKS · MODEL IN → VERDICT OUT</a:t>
            </a:r>
            <a:endParaRPr lang="en-US" sz="2250" dirty="0"/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ED82F14D-570B-8126-C6EC-42581376C7A7}"/>
              </a:ext>
            </a:extLst>
          </p:cNvPr>
          <p:cNvSpPr/>
          <p:nvPr/>
        </p:nvSpPr>
        <p:spPr>
          <a:xfrm>
            <a:off x="16683930" y="9467850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1469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53A16-7E8E-F8CD-4182-B0236A32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8">
            <a:extLst>
              <a:ext uri="{FF2B5EF4-FFF2-40B4-BE49-F238E27FC236}">
                <a16:creationId xmlns:a16="http://schemas.microsoft.com/office/drawing/2014/main" id="{74FA3FA5-9C41-3DC3-2604-99EF3E7BF3A8}"/>
              </a:ext>
            </a:extLst>
          </p:cNvPr>
          <p:cNvSpPr/>
          <p:nvPr/>
        </p:nvSpPr>
        <p:spPr>
          <a:xfrm>
            <a:off x="1481304" y="3676240"/>
            <a:ext cx="8375650" cy="336517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8B95A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0E2B2D0-B7AB-A139-0B24-9972DD4F597A}"/>
              </a:ext>
            </a:extLst>
          </p:cNvPr>
          <p:cNvSpPr/>
          <p:nvPr/>
        </p:nvSpPr>
        <p:spPr>
          <a:xfrm>
            <a:off x="1563243" y="945565"/>
            <a:ext cx="15459371" cy="151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400" b="1" kern="0" spc="-108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measures accuracy.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4400" b="1" kern="0" spc="-108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measures coverage</a:t>
            </a:r>
            <a:r>
              <a:rPr lang="en-US" sz="5400" b="1" kern="0" spc="-108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07762B-35AF-2A55-B3E3-472C602E5FCA}"/>
              </a:ext>
            </a:extLst>
          </p:cNvPr>
          <p:cNvSpPr/>
          <p:nvPr/>
        </p:nvSpPr>
        <p:spPr>
          <a:xfrm>
            <a:off x="10410530" y="4233354"/>
            <a:ext cx="2706692" cy="186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0" b="1" kern="0" spc="-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14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999ECD-E960-2B77-9B16-E4167BDD1677}"/>
              </a:ext>
            </a:extLst>
          </p:cNvPr>
          <p:cNvSpPr/>
          <p:nvPr/>
        </p:nvSpPr>
        <p:spPr>
          <a:xfrm>
            <a:off x="10539473" y="5002895"/>
            <a:ext cx="6419850" cy="1473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600" dirty="0">
                <a:solidFill>
                  <a:srgbClr val="8B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        </a:t>
            </a:r>
            <a:r>
              <a:rPr lang="en-US" sz="28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in SLA coverage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28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task, same hardware, same SLA</a:t>
            </a:r>
            <a:endParaRPr lang="en-US" sz="2800" dirty="0">
              <a:solidFill>
                <a:srgbClr val="0A254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D31A82-4F8F-EC31-DB55-7D23D42B3C67}"/>
              </a:ext>
            </a:extLst>
          </p:cNvPr>
          <p:cNvSpPr/>
          <p:nvPr/>
        </p:nvSpPr>
        <p:spPr>
          <a:xfrm>
            <a:off x="2755728" y="3971168"/>
            <a:ext cx="5219105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180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 COVERAGE — BEARING 3_2</a:t>
            </a:r>
            <a:endParaRPr lang="en-US" sz="2250" b="1" dirty="0">
              <a:solidFill>
                <a:srgbClr val="0A2540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5986B8-D3B8-9083-D52D-EF450B9F3860}"/>
              </a:ext>
            </a:extLst>
          </p:cNvPr>
          <p:cNvSpPr/>
          <p:nvPr/>
        </p:nvSpPr>
        <p:spPr>
          <a:xfrm>
            <a:off x="1481304" y="4733417"/>
            <a:ext cx="173609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PatchTST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6DFD2CD-9304-F0E3-D799-F26E114A468A}"/>
              </a:ext>
            </a:extLst>
          </p:cNvPr>
          <p:cNvSpPr/>
          <p:nvPr/>
        </p:nvSpPr>
        <p:spPr>
          <a:xfrm>
            <a:off x="3445994" y="4634992"/>
            <a:ext cx="5219105" cy="590550"/>
          </a:xfrm>
          <a:prstGeom prst="roundRect">
            <a:avLst>
              <a:gd name="adj" fmla="val 6452"/>
            </a:avLst>
          </a:prstGeom>
          <a:solidFill>
            <a:srgbClr val="2E9B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D2F708-E859-3FE3-96AD-66864A7161C6}"/>
              </a:ext>
            </a:extLst>
          </p:cNvPr>
          <p:cNvSpPr/>
          <p:nvPr/>
        </p:nvSpPr>
        <p:spPr>
          <a:xfrm>
            <a:off x="8836549" y="4711192"/>
            <a:ext cx="8387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9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028C78-9CB6-2820-ECD8-A1F0DDF5819C}"/>
              </a:ext>
            </a:extLst>
          </p:cNvPr>
          <p:cNvSpPr/>
          <p:nvPr/>
        </p:nvSpPr>
        <p:spPr>
          <a:xfrm>
            <a:off x="1481304" y="5492242"/>
            <a:ext cx="1736090" cy="45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Lag-Llama</a:t>
            </a:r>
            <a:endParaRPr lang="en-US" sz="2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4D7CB6F-BCB1-DC2D-56EE-6E9B5E3A3C6C}"/>
              </a:ext>
            </a:extLst>
          </p:cNvPr>
          <p:cNvSpPr/>
          <p:nvPr/>
        </p:nvSpPr>
        <p:spPr>
          <a:xfrm>
            <a:off x="3445994" y="5416042"/>
            <a:ext cx="3937992" cy="590550"/>
          </a:xfrm>
          <a:prstGeom prst="roundRect">
            <a:avLst>
              <a:gd name="adj" fmla="val 6452"/>
            </a:avLst>
          </a:prstGeom>
          <a:solidFill>
            <a:srgbClr val="2E9B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2FAD37-A436-341F-EFA3-98A5835DDF53}"/>
              </a:ext>
            </a:extLst>
          </p:cNvPr>
          <p:cNvSpPr/>
          <p:nvPr/>
        </p:nvSpPr>
        <p:spPr>
          <a:xfrm>
            <a:off x="7555436" y="5492242"/>
            <a:ext cx="8387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9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802C61-6937-6979-9237-5FB61303F344}"/>
              </a:ext>
            </a:extLst>
          </p:cNvPr>
          <p:cNvSpPr/>
          <p:nvPr/>
        </p:nvSpPr>
        <p:spPr>
          <a:xfrm>
            <a:off x="1811504" y="6197092"/>
            <a:ext cx="1405890" cy="5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Moirai-S</a:t>
            </a:r>
            <a:endParaRPr lang="en-US" sz="2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585435-078A-4690-D292-ACFF6EB70A2D}"/>
              </a:ext>
            </a:extLst>
          </p:cNvPr>
          <p:cNvSpPr/>
          <p:nvPr/>
        </p:nvSpPr>
        <p:spPr>
          <a:xfrm>
            <a:off x="3445994" y="6197092"/>
            <a:ext cx="572195" cy="590550"/>
          </a:xfrm>
          <a:prstGeom prst="roundRect">
            <a:avLst>
              <a:gd name="adj" fmla="val 6659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127F256-A1CD-F38B-8EBA-59C3B5138F79}"/>
              </a:ext>
            </a:extLst>
          </p:cNvPr>
          <p:cNvSpPr/>
          <p:nvPr/>
        </p:nvSpPr>
        <p:spPr>
          <a:xfrm>
            <a:off x="4189639" y="6273292"/>
            <a:ext cx="94466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3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8AEC6AA-BE9C-025F-2836-B01361AF8190}"/>
              </a:ext>
            </a:extLst>
          </p:cNvPr>
          <p:cNvSpPr/>
          <p:nvPr/>
        </p:nvSpPr>
        <p:spPr>
          <a:xfrm>
            <a:off x="1238250" y="9094291"/>
            <a:ext cx="9220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8B9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bearing data · PHM 2012 Challenge · Public dataset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6950BB7-4976-107A-5C62-C35CF076079E}"/>
              </a:ext>
            </a:extLst>
          </p:cNvPr>
          <p:cNvSpPr/>
          <p:nvPr/>
        </p:nvSpPr>
        <p:spPr>
          <a:xfrm>
            <a:off x="1238250" y="8841085"/>
            <a:ext cx="15811500" cy="190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BD4F740-2EE3-F119-F5D8-79231ECD734B}"/>
              </a:ext>
            </a:extLst>
          </p:cNvPr>
          <p:cNvSpPr/>
          <p:nvPr/>
        </p:nvSpPr>
        <p:spPr>
          <a:xfrm>
            <a:off x="16683930" y="9171285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pic>
        <p:nvPicPr>
          <p:cNvPr id="28" name="Immagine 27" descr="The image depicts a high-quality, black, ball bearing with a clear, metallic appearance, featuring a spherical ball in a circular housing.&#10;&#10;Il contenuto generato dall'IA potrebbe non essere corretto.">
            <a:extLst>
              <a:ext uri="{FF2B5EF4-FFF2-40B4-BE49-F238E27FC236}">
                <a16:creationId xmlns:a16="http://schemas.microsoft.com/office/drawing/2014/main" id="{C4F79B33-D415-FEE9-6DD4-D41895DCC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775" y="5503771"/>
            <a:ext cx="1118645" cy="143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1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238250" y="1420718"/>
            <a:ext cx="1739265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b="1" kern="0" spc="-114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converging shifts open a 24-month window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238250" y="3576985"/>
            <a:ext cx="4826000" cy="190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238250" y="3741539"/>
            <a:ext cx="53086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1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77622" y="4442508"/>
            <a:ext cx="3080369" cy="1029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0" b="1" kern="0" spc="-292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277622" y="5388038"/>
            <a:ext cx="4970780" cy="2247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5000"/>
              </a:lnSpc>
            </a:pP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global turnover.</a:t>
            </a:r>
            <a:b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 AI Act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fines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hit August 2, 2026.</a:t>
            </a:r>
            <a:endParaRPr lang="en-US" sz="2400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31000" y="3576985"/>
            <a:ext cx="4826000" cy="190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731000" y="3741539"/>
            <a:ext cx="4970780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1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 EXPLOSION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770372" y="4620664"/>
            <a:ext cx="4299705" cy="9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50" b="1" kern="0" spc="-292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2.4M+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6770372" y="5385470"/>
            <a:ext cx="4970780" cy="180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on </a:t>
            </a:r>
            <a:r>
              <a:rPr lang="en-US" sz="2400" dirty="0" err="1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r>
              <a:rPr lang="en-US" sz="2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selection is now impossible.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223750" y="3576985"/>
            <a:ext cx="4826000" cy="190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2223750" y="3741539"/>
            <a:ext cx="53086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1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ECOSYSTEMS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263122" y="4442508"/>
            <a:ext cx="530860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0" b="1" kern="0" spc="-292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</a:t>
            </a:r>
            <a:endParaRPr lang="en-US" sz="6800" dirty="0"/>
          </a:p>
        </p:txBody>
      </p:sp>
      <p:sp>
        <p:nvSpPr>
          <p:cNvPr id="15" name="Text 13"/>
          <p:cNvSpPr/>
          <p:nvPr/>
        </p:nvSpPr>
        <p:spPr>
          <a:xfrm>
            <a:off x="12302494" y="5362876"/>
            <a:ext cx="5269228" cy="180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chip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vendor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locks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in. No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vendor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incentive to build the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agnostic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it-IT" sz="2400" dirty="0"/>
              <a:t>.</a:t>
            </a:r>
            <a:endParaRPr lang="en-US" sz="2400" dirty="0">
              <a:solidFill>
                <a:srgbClr val="0A25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683930" y="9220200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585F86E-0F3F-3E7D-DF9B-AB6DFAC830C7}"/>
              </a:ext>
            </a:extLst>
          </p:cNvPr>
          <p:cNvSpPr txBox="1"/>
          <p:nvPr/>
        </p:nvSpPr>
        <p:spPr>
          <a:xfrm>
            <a:off x="1493786" y="7885620"/>
            <a:ext cx="15102462" cy="799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lang="it-IT" sz="3600" b="1" i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  <a:r>
              <a:rPr lang="it-IT" sz="3600" b="1" i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demands </a:t>
            </a:r>
            <a:r>
              <a:rPr lang="it-IT" sz="3600" b="1" i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it-IT" sz="3600" b="1" i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it-IT" sz="3600" b="1" i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Complexity</a:t>
            </a:r>
            <a:r>
              <a:rPr lang="it-IT" sz="3600" b="1" i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600" b="1" i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requires</a:t>
            </a:r>
            <a:r>
              <a:rPr lang="it-IT" sz="3600" b="1" i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600" b="1" i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it-IT" sz="3600" b="1" i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No one </a:t>
            </a:r>
            <a:r>
              <a:rPr lang="it-IT" sz="3600" b="1" i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3600" b="1" i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building </a:t>
            </a:r>
            <a:r>
              <a:rPr lang="it-IT" sz="3600" b="1" i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it-IT" sz="3600" b="1" i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b="1" i="1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238250" y="1320800"/>
            <a:ext cx="1739265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b="1" kern="0" spc="-114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wedge, one core, one platform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238250" y="4239915"/>
            <a:ext cx="4940201" cy="4000500"/>
          </a:xfrm>
          <a:prstGeom prst="roundRect">
            <a:avLst>
              <a:gd name="adj" fmla="val 952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695450" y="4659015"/>
            <a:ext cx="44283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432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</a:t>
            </a:r>
            <a:endParaRPr lang="en-US" sz="2400" b="1" dirty="0"/>
          </a:p>
        </p:txBody>
      </p:sp>
      <p:sp>
        <p:nvSpPr>
          <p:cNvPr id="6" name="Text 4"/>
          <p:cNvSpPr/>
          <p:nvPr/>
        </p:nvSpPr>
        <p:spPr>
          <a:xfrm>
            <a:off x="1695450" y="5211465"/>
            <a:ext cx="442838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544320" y="6304280"/>
            <a:ext cx="4297705" cy="171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On-hardware validation.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>
              <a:solidFill>
                <a:srgbClr val="B8C0C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market entry.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>
              <a:solidFill>
                <a:srgbClr val="B8C0C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/>
          </a:p>
          <a:p>
            <a:pPr marL="0" indent="0" algn="l">
              <a:lnSpc>
                <a:spcPct val="145000"/>
              </a:lnSpc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95450" y="7491115"/>
            <a:ext cx="442838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59451" y="3287415"/>
            <a:ext cx="4940201" cy="4953000"/>
          </a:xfrm>
          <a:prstGeom prst="roundRect">
            <a:avLst>
              <a:gd name="adj" fmla="val 771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016651" y="3706515"/>
            <a:ext cx="44283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432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endParaRPr lang="en-US" sz="2400" b="1" dirty="0"/>
          </a:p>
        </p:txBody>
      </p:sp>
      <p:sp>
        <p:nvSpPr>
          <p:cNvPr id="11" name="Text 9"/>
          <p:cNvSpPr/>
          <p:nvPr/>
        </p:nvSpPr>
        <p:spPr>
          <a:xfrm>
            <a:off x="7016651" y="4258965"/>
            <a:ext cx="442838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7016651" y="5268615"/>
            <a:ext cx="4146575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drift detection + automatic swap. 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>
              <a:solidFill>
                <a:srgbClr val="B8C0C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>
              <a:solidFill>
                <a:srgbClr val="B8C0C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subscription.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16651" y="7491115"/>
            <a:ext cx="442838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880652" y="2334915"/>
            <a:ext cx="5169098" cy="5905500"/>
          </a:xfrm>
          <a:prstGeom prst="roundRect">
            <a:avLst>
              <a:gd name="adj" fmla="val 737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2337852" y="2754015"/>
            <a:ext cx="46801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432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DEEPEN</a:t>
            </a:r>
            <a:endParaRPr lang="en-US" sz="2400" b="1" dirty="0"/>
          </a:p>
        </p:txBody>
      </p:sp>
      <p:sp>
        <p:nvSpPr>
          <p:cNvPr id="16" name="Text 14"/>
          <p:cNvSpPr/>
          <p:nvPr/>
        </p:nvSpPr>
        <p:spPr>
          <a:xfrm>
            <a:off x="12337852" y="3306465"/>
            <a:ext cx="46801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26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12274031" y="4488477"/>
            <a:ext cx="4382339" cy="3631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Fleet-wide cross-vendor orchestration  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>
              <a:solidFill>
                <a:srgbClr val="B8C0C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>
              <a:solidFill>
                <a:srgbClr val="B8C0C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>
              <a:solidFill>
                <a:srgbClr val="B8C0C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sz="2400" dirty="0">
              <a:solidFill>
                <a:srgbClr val="B8C0C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45000"/>
              </a:lnSpc>
            </a:pPr>
            <a:r>
              <a:rPr lang="it-IT" sz="2400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scale </a:t>
            </a:r>
            <a:r>
              <a:rPr lang="en-US" sz="2400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683930" y="9220200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F9B95F9-6182-EADF-321F-C95B375093C4}"/>
              </a:ext>
            </a:extLst>
          </p:cNvPr>
          <p:cNvSpPr txBox="1"/>
          <p:nvPr/>
        </p:nvSpPr>
        <p:spPr>
          <a:xfrm>
            <a:off x="3789687" y="8903296"/>
            <a:ext cx="10479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latin typeface="Arial" panose="020B0604020202020204" pitchFamily="34" charset="0"/>
                <a:cs typeface="Arial" panose="020B0604020202020204" pitchFamily="34" charset="0"/>
              </a:rPr>
              <a:t>Same </a:t>
            </a:r>
            <a:r>
              <a:rPr lang="it-IT" sz="4000" dirty="0" err="1">
                <a:latin typeface="Arial" panose="020B0604020202020204" pitchFamily="34" charset="0"/>
                <a:cs typeface="Arial" panose="020B0604020202020204" pitchFamily="34" charset="0"/>
              </a:rPr>
              <a:t>costumer</a:t>
            </a:r>
            <a:r>
              <a:rPr lang="it-IT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4000" dirty="0" err="1">
                <a:latin typeface="Arial" panose="020B0604020202020204" pitchFamily="34" charset="0"/>
                <a:cs typeface="Arial" panose="020B0604020202020204" pitchFamily="34" charset="0"/>
              </a:rPr>
              <a:t>growing</a:t>
            </a:r>
            <a:r>
              <a:rPr lang="it-IT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4000" b="1" i="1" dirty="0">
                <a:solidFill>
                  <a:srgbClr val="D4A0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footprint</a:t>
            </a:r>
            <a:r>
              <a:rPr lang="it-IT" sz="4000" dirty="0">
                <a:latin typeface="Arial" panose="020B0604020202020204" pitchFamily="34" charset="0"/>
                <a:cs typeface="Arial" panose="020B0604020202020204" pitchFamily="34" charset="0"/>
              </a:rPr>
              <a:t>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5"/>
          <p:cNvSpPr/>
          <p:nvPr/>
        </p:nvSpPr>
        <p:spPr>
          <a:xfrm>
            <a:off x="5334000" y="6186091"/>
            <a:ext cx="3524250" cy="2082800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9050">
            <a:solidFill>
              <a:srgbClr val="8B95A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Shape 8"/>
          <p:cNvSpPr/>
          <p:nvPr/>
        </p:nvSpPr>
        <p:spPr>
          <a:xfrm>
            <a:off x="1732682" y="3669507"/>
            <a:ext cx="2857500" cy="1968500"/>
          </a:xfrm>
          <a:prstGeom prst="roundRect">
            <a:avLst>
              <a:gd name="adj" fmla="val 1662"/>
            </a:avLst>
          </a:prstGeom>
          <a:solidFill>
            <a:srgbClr val="FFFFFF"/>
          </a:solidFill>
          <a:ln w="19050">
            <a:solidFill>
              <a:srgbClr val="8B95A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" name="Text 0"/>
          <p:cNvSpPr/>
          <p:nvPr/>
        </p:nvSpPr>
        <p:spPr>
          <a:xfrm>
            <a:off x="1238250" y="857250"/>
            <a:ext cx="173926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238250" y="1397000"/>
            <a:ext cx="15697200" cy="146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it-IT" sz="4800" b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</a:t>
            </a:r>
            <a:r>
              <a:rPr lang="it-IT" sz="4800" b="1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reasons</a:t>
            </a:r>
            <a:r>
              <a:rPr lang="it-IT" sz="4800" b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one else can catch up</a:t>
            </a:r>
          </a:p>
        </p:txBody>
      </p:sp>
      <p:sp>
        <p:nvSpPr>
          <p:cNvPr id="4" name="Shape 2"/>
          <p:cNvSpPr/>
          <p:nvPr/>
        </p:nvSpPr>
        <p:spPr>
          <a:xfrm>
            <a:off x="5143500" y="3353991"/>
            <a:ext cx="19050" cy="5257800"/>
          </a:xfrm>
          <a:prstGeom prst="rect">
            <a:avLst/>
          </a:prstGeom>
          <a:solidFill>
            <a:srgbClr val="8B95A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238250" y="5982891"/>
            <a:ext cx="7810500" cy="19050"/>
          </a:xfrm>
          <a:prstGeom prst="rect">
            <a:avLst/>
          </a:prstGeom>
          <a:solidFill>
            <a:srgbClr val="8B95A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755331" y="3128566"/>
            <a:ext cx="2776339" cy="450850"/>
          </a:xfrm>
          <a:prstGeom prst="roundRect">
            <a:avLst>
              <a:gd name="adj" fmla="val 8451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964881" y="3204766"/>
            <a:ext cx="2440529" cy="336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/ drift aware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33890" y="5691982"/>
            <a:ext cx="2214860" cy="450850"/>
          </a:xfrm>
          <a:prstGeom prst="roundRect">
            <a:avLst>
              <a:gd name="adj" fmla="val 8451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034759" y="5771455"/>
            <a:ext cx="1871960" cy="336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Hardware-aware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418" y="3921126"/>
            <a:ext cx="1030684" cy="28575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896" y="4161632"/>
            <a:ext cx="1285081" cy="28575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0938" y="4447382"/>
            <a:ext cx="1445121" cy="2095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96871" y="4839923"/>
            <a:ext cx="2832212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it-IT" dirty="0">
                <a:solidFill>
                  <a:srgbClr val="6A74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Server-side </a:t>
            </a:r>
            <a:r>
              <a:rPr lang="it-IT" dirty="0" err="1">
                <a:solidFill>
                  <a:srgbClr val="6A74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observability</a:t>
            </a:r>
            <a:r>
              <a:rPr lang="it-IT" dirty="0">
                <a:solidFill>
                  <a:srgbClr val="6A74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on-device </a:t>
            </a:r>
            <a:r>
              <a:rPr lang="it-IT" dirty="0" err="1">
                <a:solidFill>
                  <a:srgbClr val="6A74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runtime</a:t>
            </a:r>
            <a:endParaRPr lang="en-US" dirty="0">
              <a:solidFill>
                <a:srgbClr val="6A74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334000" y="3696891"/>
            <a:ext cx="3524250" cy="1796653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it-IT">
              <a:solidFill>
                <a:srgbClr val="2E9B58"/>
              </a:solidFill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690" y="4274939"/>
            <a:ext cx="2857500" cy="7362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4200" y="4877594"/>
            <a:ext cx="24140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292225" y="6553995"/>
            <a:ext cx="3603030" cy="2053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r>
              <a:rPr lang="it-IT" sz="2400" b="1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Consulting audits</a:t>
            </a:r>
          </a:p>
          <a:p>
            <a:endParaRPr lang="it-IT" sz="2400" b="1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one-off,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endParaRPr lang="it-IT" sz="2400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2400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4, boutique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consultancies</a:t>
            </a:r>
            <a:endParaRPr lang="it-IT" sz="2400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490" y="6639719"/>
            <a:ext cx="762000" cy="762000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3606" y="6766322"/>
            <a:ext cx="1343323" cy="3238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0559" y="7040166"/>
            <a:ext cx="17755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it-IT" dirty="0"/>
              <a:t>ONNX Runtime</a:t>
            </a: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5968174" y="7580710"/>
            <a:ext cx="3080576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HW-optimized, no drift</a:t>
            </a: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9761240" y="3575050"/>
            <a:ext cx="3623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50" dirty="0"/>
          </a:p>
        </p:txBody>
      </p:sp>
      <p:sp>
        <p:nvSpPr>
          <p:cNvPr id="27" name="Text 19"/>
          <p:cNvSpPr/>
          <p:nvPr/>
        </p:nvSpPr>
        <p:spPr>
          <a:xfrm>
            <a:off x="10314088" y="3644899"/>
            <a:ext cx="6592416" cy="9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Productized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audit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measuring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SLA coverage on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hardware, with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data.</a:t>
            </a:r>
            <a:endParaRPr lang="en-US" sz="2400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9761240" y="5024040"/>
            <a:ext cx="3623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50" dirty="0"/>
          </a:p>
        </p:txBody>
      </p:sp>
      <p:sp>
        <p:nvSpPr>
          <p:cNvPr id="29" name="Text 21"/>
          <p:cNvSpPr/>
          <p:nvPr/>
        </p:nvSpPr>
        <p:spPr>
          <a:xfrm>
            <a:off x="10312524" y="5049044"/>
            <a:ext cx="659241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vendor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design. No chip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vendor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cannibalize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their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lock-in.</a:t>
            </a:r>
            <a:endParaRPr lang="en-US" sz="2400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9753401" y="6546650"/>
            <a:ext cx="3623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50" dirty="0"/>
          </a:p>
        </p:txBody>
      </p:sp>
      <p:sp>
        <p:nvSpPr>
          <p:cNvPr id="31" name="Text 23"/>
          <p:cNvSpPr/>
          <p:nvPr/>
        </p:nvSpPr>
        <p:spPr>
          <a:xfrm>
            <a:off x="10312524" y="6596954"/>
            <a:ext cx="659241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dataset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compounds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audit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one customer × model × hardware × drift × </a:t>
            </a:r>
            <a:r>
              <a:rPr lang="it-IT" sz="2400" dirty="0" err="1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it-IT" sz="2400" dirty="0">
                <a:solidFill>
                  <a:srgbClr val="0A25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record no competitor can replicate</a:t>
            </a:r>
            <a:endParaRPr lang="en-US" sz="2400" dirty="0">
              <a:solidFill>
                <a:srgbClr val="0A25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16683930" y="9220200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44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</a:t>
            </a:r>
            <a:r>
              <a:rPr lang="en-US" sz="7200" b="1" kern="0" spc="-144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中国</a:t>
            </a:r>
            <a:endParaRPr lang="en-US" sz="7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8250" y="2578100"/>
            <a:ext cx="7239000" cy="5791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34000" y="6102350"/>
            <a:ext cx="3810000" cy="1200150"/>
          </a:xfrm>
          <a:prstGeom prst="roundRect">
            <a:avLst>
              <a:gd name="adj" fmla="val 2377"/>
            </a:avLst>
          </a:prstGeom>
          <a:solidFill>
            <a:srgbClr val="F5F7FA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5581650" y="6292850"/>
            <a:ext cx="36461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Chaoyang, Beijing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581650" y="6661150"/>
            <a:ext cx="34141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Alliance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620250" y="2130326"/>
            <a:ext cx="6705600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0" b="1" kern="0" spc="-9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500" dirty="0"/>
          </a:p>
        </p:txBody>
      </p:sp>
      <p:sp>
        <p:nvSpPr>
          <p:cNvPr id="8" name="Text 5"/>
          <p:cNvSpPr/>
          <p:nvPr/>
        </p:nvSpPr>
        <p:spPr>
          <a:xfrm>
            <a:off x="9620250" y="4892576"/>
            <a:ext cx="6278880" cy="979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8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world’s EVs are produced in China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9620250" y="6157417"/>
            <a:ext cx="6096000" cy="1905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9620250" y="6424117"/>
            <a:ext cx="35623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9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$318B</a:t>
            </a:r>
            <a:endParaRPr lang="en-US" sz="4950" dirty="0"/>
          </a:p>
        </p:txBody>
      </p:sp>
      <p:sp>
        <p:nvSpPr>
          <p:cNvPr id="11" name="Text 8"/>
          <p:cNvSpPr/>
          <p:nvPr/>
        </p:nvSpPr>
        <p:spPr>
          <a:xfrm>
            <a:off x="9620250" y="7109917"/>
            <a:ext cx="3335655" cy="732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automotive electronics market (2026)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3525500" y="6424117"/>
            <a:ext cx="221708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9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43.6%</a:t>
            </a:r>
            <a:endParaRPr lang="en-US" sz="4950" dirty="0"/>
          </a:p>
        </p:txBody>
      </p:sp>
      <p:sp>
        <p:nvSpPr>
          <p:cNvPr id="13" name="Text 10"/>
          <p:cNvSpPr/>
          <p:nvPr/>
        </p:nvSpPr>
        <p:spPr>
          <a:xfrm>
            <a:off x="13525500" y="7109917"/>
            <a:ext cx="2217083" cy="385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 Pacific share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9620250" y="8089999"/>
            <a:ext cx="65976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edge AI deployment testbed on Earth.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238250" y="9220200"/>
            <a:ext cx="118689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IEA Global EV Outlook 2026 · Fortune Business Insights 2026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683930" y="9220200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+ TRACTION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238250" y="1320800"/>
            <a:ext cx="173926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kern="0" spc="-9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founder, three institutions, validated technology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447217" y="3287712"/>
            <a:ext cx="9620250" cy="4746625"/>
          </a:xfrm>
          <a:prstGeom prst="roundRect">
            <a:avLst>
              <a:gd name="adj" fmla="val 664"/>
            </a:avLst>
          </a:prstGeom>
          <a:ln w="1905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5000" t="-9923" r="78556" b="-37026"/>
          <a:stretch>
            <a:fillRect/>
          </a:stretch>
        </p:blipFill>
        <p:spPr>
          <a:xfrm>
            <a:off x="1129104" y="3287789"/>
            <a:ext cx="3054250" cy="3259578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 t="12500" b="12500"/>
          <a:stretch/>
        </p:blipFill>
        <p:spPr>
          <a:xfrm>
            <a:off x="3296472" y="5387345"/>
            <a:ext cx="2264525" cy="2264525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10251" y="4485050"/>
            <a:ext cx="3457575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Omede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7415213" y="5015705"/>
            <a:ext cx="34575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15213" y="5732462"/>
            <a:ext cx="3457574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MSc, Politecnico di Torino × Universitat Internacional de Catalunya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410251" y="6604600"/>
            <a:ext cx="3237548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Visiting Researcher, 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Beihang</a:t>
            </a:r>
            <a:r>
              <a:rPr lang="en-US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447967" y="7123112"/>
            <a:ext cx="3237548" cy="161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1715750" y="3333750"/>
            <a:ext cx="1814463" cy="692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E9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4500" dirty="0"/>
          </a:p>
        </p:txBody>
      </p:sp>
      <p:sp>
        <p:nvSpPr>
          <p:cNvPr id="15" name="Text 11"/>
          <p:cNvSpPr/>
          <p:nvPr/>
        </p:nvSpPr>
        <p:spPr>
          <a:xfrm>
            <a:off x="13366876" y="3536950"/>
            <a:ext cx="3559565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classifier accuracy, held-out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11715750" y="4508500"/>
            <a:ext cx="2200275" cy="692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E9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500" dirty="0"/>
          </a:p>
        </p:txBody>
      </p:sp>
      <p:sp>
        <p:nvSpPr>
          <p:cNvPr id="17" name="Text 13"/>
          <p:cNvSpPr/>
          <p:nvPr/>
        </p:nvSpPr>
        <p:spPr>
          <a:xfrm>
            <a:off x="13411598" y="4752975"/>
            <a:ext cx="1719074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</a:t>
            </a:r>
            <a:endParaRPr lang="en-US" sz="2250" dirty="0"/>
          </a:p>
        </p:txBody>
      </p:sp>
      <p:sp>
        <p:nvSpPr>
          <p:cNvPr id="18" name="Text 14"/>
          <p:cNvSpPr/>
          <p:nvPr/>
        </p:nvSpPr>
        <p:spPr>
          <a:xfrm>
            <a:off x="11671766" y="5661025"/>
            <a:ext cx="1613972" cy="692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</a:t>
            </a:r>
            <a:endParaRPr lang="en-US" sz="4500" dirty="0"/>
          </a:p>
        </p:txBody>
      </p:sp>
      <p:sp>
        <p:nvSpPr>
          <p:cNvPr id="19" name="Text 15"/>
          <p:cNvSpPr/>
          <p:nvPr/>
        </p:nvSpPr>
        <p:spPr>
          <a:xfrm>
            <a:off x="13411598" y="5845175"/>
            <a:ext cx="3747298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cost — 8 models on real GPU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11715750" y="6775450"/>
            <a:ext cx="1569988" cy="692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4500" dirty="0"/>
          </a:p>
        </p:txBody>
      </p:sp>
      <p:sp>
        <p:nvSpPr>
          <p:cNvPr id="21" name="Text 17"/>
          <p:cNvSpPr/>
          <p:nvPr/>
        </p:nvSpPr>
        <p:spPr>
          <a:xfrm>
            <a:off x="13411598" y="7000875"/>
            <a:ext cx="3788482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 — PHM 2012 + IMS Center</a:t>
            </a:r>
            <a:endParaRPr lang="en-US" sz="2250" dirty="0"/>
          </a:p>
        </p:txBody>
      </p:sp>
      <p:sp>
        <p:nvSpPr>
          <p:cNvPr id="26" name="Text 20"/>
          <p:cNvSpPr/>
          <p:nvPr/>
        </p:nvSpPr>
        <p:spPr>
          <a:xfrm>
            <a:off x="9075341" y="9058275"/>
            <a:ext cx="784557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Beijing Founder Program 2026 · Selected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16683930" y="9058275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6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400" dirty="0"/>
          </a:p>
        </p:txBody>
      </p:sp>
      <p:pic>
        <p:nvPicPr>
          <p:cNvPr id="29" name="Immagine 28" descr="The image features the emblem of the Politecnico di Torino, an Italian university, with the date 1859 inscribed above.&#10;&#10;Il contenuto generato dall'IA potrebbe non essere corretto.">
            <a:extLst>
              <a:ext uri="{FF2B5EF4-FFF2-40B4-BE49-F238E27FC236}">
                <a16:creationId xmlns:a16="http://schemas.microsoft.com/office/drawing/2014/main" id="{B68793EC-4563-30E7-A8B6-C8EE00C9D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7629" y="2953938"/>
            <a:ext cx="3579032" cy="2684274"/>
          </a:xfrm>
          <a:prstGeom prst="rect">
            <a:avLst/>
          </a:prstGeom>
        </p:spPr>
      </p:pic>
      <p:pic>
        <p:nvPicPr>
          <p:cNvPr id="31" name="Immagine 30" descr="BARCELONA&#10;&#10;Il contenuto generato dall'IA potrebbe non essere corretto.">
            <a:extLst>
              <a:ext uri="{FF2B5EF4-FFF2-40B4-BE49-F238E27FC236}">
                <a16:creationId xmlns:a16="http://schemas.microsoft.com/office/drawing/2014/main" id="{7B447265-1DA3-AB5F-BF0B-80E5FA1EE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494" y="4780478"/>
            <a:ext cx="1535616" cy="10448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77250" y="2137172"/>
            <a:ext cx="1333500" cy="762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1491615" y="2784872"/>
            <a:ext cx="15304770" cy="2301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100" b="1" kern="0" spc="-162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industrial AI model, always in its optimal deployment state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2472690" y="5543154"/>
            <a:ext cx="1334262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550" dirty="0">
                <a:solidFill>
                  <a:srgbClr val="B8C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AI-on-edge becomes a maintained asset, not a one-shot deployment. By 2030: millions of models continuously maintained. Hundreds of billions of dollars in industrial downtime prevented.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134882" y="7610079"/>
            <a:ext cx="1001823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45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Haiku-not-Opus moment for industrial AI.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8408397" y="9290050"/>
            <a:ext cx="147110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B9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AlignEdge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3515</TotalTime>
  <Words>1186</Words>
  <Application>Microsoft Office PowerPoint</Application>
  <PresentationFormat>Personalizzato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kevin omede</cp:lastModifiedBy>
  <cp:revision>2</cp:revision>
  <dcterms:created xsi:type="dcterms:W3CDTF">2026-07-05T15:31:05Z</dcterms:created>
  <dcterms:modified xsi:type="dcterms:W3CDTF">2026-07-08T02:07:17Z</dcterms:modified>
</cp:coreProperties>
</file>